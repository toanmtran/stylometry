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97135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1A1A1A"/>
                </a:solidFill>
                <a:latin typeface="Playfair Display"/>
                <a:cs typeface="Playfair Display"/>
              </a:rPr>
              <a:t>Attributing Texts to an Author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4600" b="1" i="0">
                <a:solidFill>
                  <a:srgbClr val="1A1A1A"/>
                </a:solidFill>
                <a:latin typeface="Playfair Display"/>
                <a:cs typeface="Playfair Display"/>
              </a:rPr>
              <a:t>using a Neural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Poppins"/>
                <a:cs typeface="Poppi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384048" cy="502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Neural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cs typeface="Poppins"/>
              </a:rPr>
              <a:t>The Task: Six-Class 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54680"/>
            <a:ext cx="33832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400" b="1" i="0">
                <a:solidFill>
                  <a:srgbClr val="1A1A1A"/>
                </a:solidFill>
                <a:latin typeface="Poppins"/>
                <a:cs typeface="Poppins"/>
              </a:rPr>
              <a:t>5 known authors + a 6th “none” class</a:t>
            </a:r>
            <a:r>
              <a:rPr sz="1400" b="0" i="0">
                <a:solidFill>
                  <a:srgbClr val="1A1A1A"/>
                </a:solidFill>
                <a:latin typeface="Poppins"/>
                <a:cs typeface="Poppins"/>
              </a:rPr>
              <a:t> — the model can decline, not forced to pick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400" b="1" i="0">
                <a:solidFill>
                  <a:srgbClr val="1A1A1A"/>
                </a:solidFill>
                <a:latin typeface="Poppins"/>
                <a:cs typeface="Poppins"/>
              </a:rPr>
              <a:t>873 passages</a:t>
            </a:r>
            <a:r>
              <a:rPr sz="1400" b="0" i="0">
                <a:solidFill>
                  <a:srgbClr val="1A1A1A"/>
                </a:solidFill>
                <a:latin typeface="Poppins"/>
                <a:cs typeface="Poppins"/>
              </a:rPr>
              <a:t>, each described by 107 stylometric features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400" b="1" i="0">
                <a:solidFill>
                  <a:srgbClr val="1A1A1A"/>
                </a:solidFill>
                <a:latin typeface="Poppins"/>
                <a:cs typeface="Poppins"/>
              </a:rPr>
              <a:t>Neural network</a:t>
            </a:r>
            <a:r>
              <a:rPr sz="1400" b="0" i="0">
                <a:solidFill>
                  <a:srgbClr val="1A1A1A"/>
                </a:solidFill>
                <a:latin typeface="Poppins"/>
                <a:cs typeface="Poppins"/>
              </a:rPr>
              <a:t> — ReLU hidden units, softmax over 6 classes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400" b="1" i="0">
                <a:solidFill>
                  <a:srgbClr val="1A1A1A"/>
                </a:solidFill>
                <a:latin typeface="Poppins"/>
                <a:cs typeface="Poppins"/>
              </a:rPr>
              <a:t>Adam optimizer</a:t>
            </a:r>
            <a:r>
              <a:rPr sz="1400" b="0" i="0">
                <a:solidFill>
                  <a:srgbClr val="1A1A1A"/>
                </a:solidFill>
                <a:latin typeface="Poppins"/>
                <a:cs typeface="Poppins"/>
              </a:rPr>
              <a:t>, cross-entropy loss, early stopping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400" b="1" i="0">
                <a:solidFill>
                  <a:srgbClr val="1A1A1A"/>
                </a:solidFill>
                <a:latin typeface="Poppins"/>
                <a:cs typeface="Poppins"/>
              </a:rPr>
              <a:t>60 / 20 / 20 split</a:t>
            </a:r>
            <a:r>
              <a:rPr sz="1400" b="0" i="0">
                <a:solidFill>
                  <a:srgbClr val="1A1A1A"/>
                </a:solidFill>
                <a:latin typeface="Poppins"/>
                <a:cs typeface="Poppins"/>
              </a:rPr>
              <a:t> — train / validation / test, stratified by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Poppins"/>
                <a:cs typeface="Poppins"/>
              </a:rPr>
              <a:t>Network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788920"/>
            <a:ext cx="1691640" cy="1417320"/>
          </a:xfrm>
          <a:prstGeom prst="roundRect">
            <a:avLst>
              <a:gd name="adj" fmla="val 10000"/>
            </a:avLst>
          </a:prstGeom>
          <a:solidFill>
            <a:srgbClr val="E9F0F7"/>
          </a:solidFill>
          <a:ln w="1905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5A88"/>
                </a:solidFill>
                <a:latin typeface="Playfair Display"/>
                <a:cs typeface="Playfair Display"/>
              </a:rPr>
              <a:t>107
features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6B6B"/>
                </a:solidFill>
                <a:latin typeface="Poppins"/>
                <a:cs typeface="Poppins"/>
              </a:rPr>
              <a:t>Input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739128" y="3378708"/>
            <a:ext cx="557784" cy="237744"/>
          </a:xfrm>
          <a:prstGeom prst="rightArrow">
            <a:avLst/>
          </a:prstGeom>
          <a:solidFill>
            <a:srgbClr val="B8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2788920"/>
            <a:ext cx="1691640" cy="1417320"/>
          </a:xfrm>
          <a:prstGeom prst="roundRect">
            <a:avLst>
              <a:gd name="adj" fmla="val 10000"/>
            </a:avLst>
          </a:prstGeom>
          <a:solidFill>
            <a:srgbClr val="F3ECF7"/>
          </a:solidFill>
          <a:ln w="19050">
            <a:solidFill>
              <a:srgbClr val="7A4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A4E9C"/>
                </a:solidFill>
                <a:latin typeface="Playfair Display"/>
                <a:cs typeface="Playfair Display"/>
              </a:rPr>
              <a:t>64
units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6B6B"/>
                </a:solidFill>
                <a:latin typeface="Poppins"/>
                <a:cs typeface="Poppins"/>
              </a:rPr>
              <a:t>Hidden (ReLU)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08008" y="3378708"/>
            <a:ext cx="557784" cy="237744"/>
          </a:xfrm>
          <a:prstGeom prst="rightArrow">
            <a:avLst/>
          </a:prstGeom>
          <a:solidFill>
            <a:srgbClr val="B8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75520" y="2788920"/>
            <a:ext cx="1691640" cy="1417320"/>
          </a:xfrm>
          <a:prstGeom prst="roundRect">
            <a:avLst>
              <a:gd name="adj" fmla="val 10000"/>
            </a:avLst>
          </a:prstGeom>
          <a:solidFill>
            <a:srgbClr val="EAF5EE"/>
          </a:solidFill>
          <a:ln w="19050">
            <a:solidFill>
              <a:srgbClr val="3F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3F8E4E"/>
                </a:solidFill>
                <a:latin typeface="Playfair Display"/>
                <a:cs typeface="Playfair Display"/>
              </a:rPr>
              <a:t>6
classes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6B6B"/>
                </a:solidFill>
                <a:latin typeface="Poppins"/>
                <a:cs typeface="Poppins"/>
              </a:rPr>
              <a:t>Softmax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57200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Poppins"/>
                <a:cs typeface="Poppins"/>
              </a:rPr>
              <a:t>Grid search </a:t>
            </a:r>
            <a:r>
              <a:rPr sz="1150" b="0" i="0">
                <a:solidFill>
                  <a:srgbClr val="6B6B6B"/>
                </a:solidFill>
                <a:latin typeface="Poppins"/>
                <a:cs typeface="Poppins"/>
              </a:rPr>
              <a:t>explores 4 depths (1, 3, 10, 50 hidden layers) and 3 feature subsets.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Poppins"/>
                <a:cs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384048" cy="502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Neural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cs typeface="Poppins"/>
              </a:rPr>
              <a:t>Choosing the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26080"/>
            <a:ext cx="33832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Random Forest permutation importance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 ranks all 107 features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Shuffle one feature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, measure the drop in held-out accuracy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Multivariate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 — credits the feature the forest truly relies on, not redundant copies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Top drivers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: punctuation rates, Honoré's R, function words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Top-30 / top-50 subsets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 feed the grid search</a:t>
            </a:r>
          </a:p>
        </p:txBody>
      </p:sp>
      <p:pic>
        <p:nvPicPr>
          <p:cNvPr id="7" name="Picture 6" descr="rf_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54" y="1417320"/>
            <a:ext cx="553029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5303520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Poppins"/>
                <a:cs typeface="Poppins"/>
              </a:rPr>
              <a:t>Figure 1. </a:t>
            </a:r>
            <a:r>
              <a:rPr sz="1150" b="0" i="0">
                <a:solidFill>
                  <a:srgbClr val="6B6B6B"/>
                </a:solidFill>
                <a:latin typeface="Poppins"/>
                <a:cs typeface="Poppins"/>
              </a:rPr>
              <a:t>Most informative stylometric features (permutation importance).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Poppins"/>
                <a:cs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384048" cy="502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Neural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cs typeface="Poppins"/>
              </a:rPr>
              <a:t>Grid Search &amp;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54680"/>
            <a:ext cx="3383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12 configurations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 — 3 feature subsets (top 30 / 50 / all 107) × 4 depths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Ranked on validation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, not the training set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Winner retrained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 on train + validation, then tested once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Test set touched once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 — an honest generalization estimate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Best: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 all 107 features, a single 64-unit hidden layer (validation 0.943)</a:t>
            </a:r>
          </a:p>
        </p:txBody>
      </p:sp>
      <p:pic>
        <p:nvPicPr>
          <p:cNvPr id="7" name="Picture 6" descr="validation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614" y="1554480"/>
            <a:ext cx="6712771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5166360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Poppins"/>
                <a:cs typeface="Poppins"/>
              </a:rPr>
              <a:t>Figure 2. </a:t>
            </a:r>
            <a:r>
              <a:rPr sz="1150" b="0" i="0">
                <a:solidFill>
                  <a:srgbClr val="6B6B6B"/>
                </a:solidFill>
                <a:latin typeface="Poppins"/>
                <a:cs typeface="Poppins"/>
              </a:rPr>
              <a:t>Validation accuracy for every feature-subset × depth combination.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Poppins"/>
                <a:cs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384048" cy="502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Neural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cs typeface="Poppins"/>
              </a:rPr>
              <a:t>Results — Six Classes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788920"/>
            <a:ext cx="15727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94652B"/>
                </a:solidFill>
                <a:latin typeface="Playfair Display"/>
                <a:cs typeface="Playfair Display"/>
              </a:rPr>
              <a:t>94.9%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Poppins"/>
                <a:cs typeface="Poppins"/>
              </a:rPr>
              <a:t>Test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9424" y="2788920"/>
            <a:ext cx="15727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94652B"/>
                </a:solidFill>
                <a:latin typeface="Playfair Display"/>
                <a:cs typeface="Playfair Display"/>
              </a:rPr>
              <a:t>0.949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Poppins"/>
                <a:cs typeface="Poppins"/>
              </a:rPr>
              <a:t>Weighted 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94760"/>
            <a:ext cx="15727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94652B"/>
                </a:solidFill>
                <a:latin typeface="Playfair Display"/>
                <a:cs typeface="Playfair Display"/>
              </a:rPr>
              <a:t>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Poppins"/>
                <a:cs typeface="Poppins"/>
              </a:rPr>
              <a:t>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9424" y="3794760"/>
            <a:ext cx="157276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3F8E4E"/>
                </a:solidFill>
                <a:latin typeface="Playfair Display"/>
                <a:cs typeface="Playfair Display"/>
              </a:rPr>
              <a:t>1.00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Poppins"/>
                <a:cs typeface="Poppins"/>
              </a:rPr>
              <a:t>None-class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83480"/>
            <a:ext cx="3291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Poppins"/>
                <a:cs typeface="Poppins"/>
              </a:rPr>
              <a:t>The </a:t>
            </a:r>
            <a:r>
              <a:rPr sz="1250" b="1" i="0">
                <a:solidFill>
                  <a:srgbClr val="3F8E4E"/>
                </a:solidFill>
                <a:latin typeface="Poppins"/>
                <a:cs typeface="Poppins"/>
              </a:rPr>
              <a:t>none class</a:t>
            </a:r>
            <a:r>
              <a:rPr sz="1250" b="0" i="0">
                <a:solidFill>
                  <a:srgbClr val="1A1A1A"/>
                </a:solidFill>
                <a:latin typeface="Poppins"/>
                <a:cs typeface="Poppins"/>
              </a:rPr>
              <a:t> is recovered perfectly — no unknown passage leaks into a known author. </a:t>
            </a:r>
            <a:r>
              <a:rPr sz="1250" b="1" i="0">
                <a:solidFill>
                  <a:srgbClr val="1A1A1A"/>
                </a:solidFill>
                <a:latin typeface="Poppins"/>
                <a:cs typeface="Poppins"/>
              </a:rPr>
              <a:t>The few errors</a:t>
            </a:r>
            <a:r>
              <a:rPr sz="1250" b="0" i="0">
                <a:solidFill>
                  <a:srgbClr val="1A1A1A"/>
                </a:solidFill>
                <a:latin typeface="Poppins"/>
                <a:cs typeface="Poppins"/>
              </a:rPr>
              <a:t> are minor confusions among the five (Raemon recall 0.88, Scott Alexander 0.90).</a:t>
            </a:r>
          </a:p>
        </p:txBody>
      </p:sp>
      <p:pic>
        <p:nvPicPr>
          <p:cNvPr id="11" name="Picture 10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606" y="1188720"/>
            <a:ext cx="5018227" cy="448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571500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Poppins"/>
                <a:cs typeface="Poppins"/>
              </a:rPr>
              <a:t>Figure 3. </a:t>
            </a:r>
            <a:r>
              <a:rPr sz="1150" b="0" i="0">
                <a:solidFill>
                  <a:srgbClr val="6B6B6B"/>
                </a:solidFill>
                <a:latin typeface="Poppins"/>
                <a:cs typeface="Poppins"/>
              </a:rPr>
              <a:t>Six-class confusion matrix, including the none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Poppins"/>
                <a:cs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384048" cy="502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Neural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cs typeface="Poppins"/>
              </a:rPr>
              <a:t>How Deep Should the Network Be?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54680"/>
            <a:ext cx="3383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Accuracy is flat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 from depth 1 to depth 10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Depth 50 collapses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 to ≈ 0.17 — the 1-in-6 random baseline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Not over-fitting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 — the deep net never starts learning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350" b="1" i="0">
                <a:solidFill>
                  <a:srgbClr val="1A1A1A"/>
                </a:solidFill>
                <a:latin typeface="Poppins"/>
                <a:cs typeface="Poppins"/>
              </a:rPr>
              <a:t>Shallow wins</a:t>
            </a:r>
            <a:r>
              <a:rPr sz="1350" b="0" i="0">
                <a:solidFill>
                  <a:srgbClr val="1A1A1A"/>
                </a:solidFill>
                <a:latin typeface="Poppins"/>
                <a:cs typeface="Poppins"/>
              </a:rPr>
              <a:t>: a single hidden layer is the right choice</a:t>
            </a:r>
          </a:p>
        </p:txBody>
      </p:sp>
      <p:pic>
        <p:nvPicPr>
          <p:cNvPr id="7" name="Picture 6" descr="depth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928" y="1737360"/>
            <a:ext cx="5236143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4892040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Poppins"/>
                <a:cs typeface="Poppins"/>
              </a:rPr>
              <a:t>Figure 4. </a:t>
            </a:r>
            <a:r>
              <a:rPr sz="1150" b="0" i="0">
                <a:solidFill>
                  <a:srgbClr val="6B6B6B"/>
                </a:solidFill>
                <a:latin typeface="Poppins"/>
                <a:cs typeface="Poppins"/>
              </a:rPr>
              <a:t>Validation accuracy versus network depth.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Poppins"/>
                <a:cs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384048" cy="502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Neural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cs typeface="Poppins"/>
              </a:rPr>
              <a:t>Why Depth 50 Fails: Vanishing Gradients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0040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250" b="1" i="0">
                <a:solidFill>
                  <a:srgbClr val="1A1A1A"/>
                </a:solidFill>
                <a:latin typeface="Poppins"/>
                <a:cs typeface="Poppins"/>
              </a:rPr>
              <a:t>Measured at initialization</a:t>
            </a:r>
            <a:r>
              <a:rPr sz="1250" b="0" i="0">
                <a:solidFill>
                  <a:srgbClr val="1A1A1A"/>
                </a:solidFill>
                <a:latin typeface="Poppins"/>
                <a:cs typeface="Poppins"/>
              </a:rPr>
              <a:t> — Glorot-uniform, sklearn's ReLU scheme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250" b="1" i="0">
                <a:solidFill>
                  <a:srgbClr val="1A1A1A"/>
                </a:solidFill>
                <a:latin typeface="Poppins"/>
                <a:cs typeface="Poppins"/>
              </a:rPr>
              <a:t>First-layer gradient</a:t>
            </a:r>
            <a:r>
              <a:rPr sz="1250" b="0" i="0">
                <a:solidFill>
                  <a:srgbClr val="1A1A1A"/>
                </a:solidFill>
                <a:latin typeface="Poppins"/>
                <a:cs typeface="Poppins"/>
              </a:rPr>
              <a:t> collapses as the network deepens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250" b="1" i="0">
                <a:solidFill>
                  <a:srgbClr val="1A1A1A"/>
                </a:solidFill>
                <a:latin typeface="Poppins"/>
                <a:cs typeface="Poppins"/>
              </a:rPr>
              <a:t>At depth 50</a:t>
            </a:r>
            <a:r>
              <a:rPr sz="1250" b="0" i="0">
                <a:solidFill>
                  <a:srgbClr val="1A1A1A"/>
                </a:solidFill>
                <a:latin typeface="Poppins"/>
                <a:cs typeface="Poppins"/>
              </a:rPr>
              <a:t> it is ~8 orders of magnitude weaker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846320"/>
            <a:ext cx="822960" cy="301752"/>
          </a:xfrm>
          <a:prstGeom prst="rect">
            <a:avLst/>
          </a:prstGeom>
          <a:solidFill>
            <a:srgbClr val="1A1A1A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Poppins"/>
                <a:cs typeface="Poppins"/>
              </a:rPr>
              <a:t>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4846320"/>
            <a:ext cx="1417320" cy="301752"/>
          </a:xfrm>
          <a:prstGeom prst="rect">
            <a:avLst/>
          </a:prstGeom>
          <a:solidFill>
            <a:srgbClr val="1A1A1A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Poppins"/>
                <a:cs typeface="Poppins"/>
              </a:rPr>
              <a:t>1st-layer grad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4846320"/>
            <a:ext cx="1005840" cy="301752"/>
          </a:xfrm>
          <a:prstGeom prst="rect">
            <a:avLst/>
          </a:prstGeom>
          <a:solidFill>
            <a:srgbClr val="1A1A1A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Poppins"/>
                <a:cs typeface="Poppins"/>
              </a:rPr>
              <a:t>Ratio out/1st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148072"/>
            <a:ext cx="8229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Poppins"/>
                <a:cs typeface="Poppin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5148072"/>
            <a:ext cx="14173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Poppins"/>
                <a:cs typeface="Poppins"/>
              </a:rPr>
              <a:t>2.0×10⁻²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7208" y="5148072"/>
            <a:ext cx="100584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Poppins"/>
                <a:cs typeface="Poppins"/>
              </a:rPr>
              <a:t>3.5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449824"/>
            <a:ext cx="8229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Poppins"/>
                <a:cs typeface="Poppin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9888" y="5449824"/>
            <a:ext cx="14173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Poppins"/>
                <a:cs typeface="Poppins"/>
              </a:rPr>
              <a:t>7.4×10⁻³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7208" y="5449824"/>
            <a:ext cx="100584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Poppins"/>
                <a:cs typeface="Poppins"/>
              </a:rPr>
              <a:t>4.2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751576"/>
            <a:ext cx="8229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Poppins"/>
                <a:cs typeface="Poppins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89888" y="5751576"/>
            <a:ext cx="14173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Poppins"/>
                <a:cs typeface="Poppins"/>
              </a:rPr>
              <a:t>4.2×10⁻⁴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07208" y="5751576"/>
            <a:ext cx="100584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Poppins"/>
                <a:cs typeface="Poppins"/>
              </a:rPr>
              <a:t>13.7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053328"/>
            <a:ext cx="8229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A1A1A"/>
                </a:solidFill>
                <a:latin typeface="Poppins"/>
                <a:cs typeface="Poppins"/>
              </a:rPr>
              <a:t>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88" y="6053328"/>
            <a:ext cx="14173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652B"/>
                </a:solidFill>
                <a:latin typeface="Poppins"/>
                <a:cs typeface="Poppins"/>
              </a:rPr>
              <a:t>2.5×10⁻¹⁰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07208" y="6053328"/>
            <a:ext cx="100584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18288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94652B"/>
                </a:solidFill>
                <a:latin typeface="Poppins"/>
                <a:cs typeface="Poppins"/>
              </a:rPr>
              <a:t>2.2×10⁷</a:t>
            </a:r>
          </a:p>
        </p:txBody>
      </p:sp>
      <p:pic>
        <p:nvPicPr>
          <p:cNvPr id="22" name="Picture 21" descr="gradient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060725"/>
            <a:ext cx="7406640" cy="282798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97680" y="5440680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A1A1A"/>
                </a:solidFill>
                <a:latin typeface="Poppins"/>
                <a:cs typeface="Poppins"/>
              </a:rPr>
              <a:t>Figure 5. </a:t>
            </a:r>
            <a:r>
              <a:rPr sz="1150" b="0" i="0">
                <a:solidFill>
                  <a:srgbClr val="6B6B6B"/>
                </a:solidFill>
                <a:latin typeface="Poppins"/>
                <a:cs typeface="Poppins"/>
              </a:rPr>
              <a:t>Gradient RMS per layer (left) and at the input layer vs depth (right).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Poppins"/>
                <a:cs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548640"/>
            <a:ext cx="384048" cy="502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Neural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Playfair Display"/>
                <a:cs typeface="Playfair Display"/>
              </a:rP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Poppins"/>
                <a:cs typeface="Poppins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26080"/>
            <a:ext cx="107899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500" b="1" i="0">
                <a:solidFill>
                  <a:srgbClr val="1A1A1A"/>
                </a:solidFill>
                <a:latin typeface="Poppins"/>
                <a:cs typeface="Poppins"/>
              </a:rPr>
              <a:t>A shallow NN</a:t>
            </a:r>
            <a:r>
              <a:rPr sz="1500" b="0" i="0">
                <a:solidFill>
                  <a:srgbClr val="1A1A1A"/>
                </a:solidFill>
                <a:latin typeface="Poppins"/>
                <a:cs typeface="Poppins"/>
              </a:rPr>
              <a:t> attributes passages across six classes at ~95% accuracy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500" b="1" i="0">
                <a:solidFill>
                  <a:srgbClr val="1A1A1A"/>
                </a:solidFill>
                <a:latin typeface="Poppins"/>
                <a:cs typeface="Poppins"/>
              </a:rPr>
              <a:t>107 stylometric features</a:t>
            </a:r>
            <a:r>
              <a:rPr sz="1500" b="0" i="0">
                <a:solidFill>
                  <a:srgbClr val="1A1A1A"/>
                </a:solidFill>
                <a:latin typeface="Poppins"/>
                <a:cs typeface="Poppins"/>
              </a:rPr>
              <a:t> carry enough signal — no deep network needed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500" b="1" i="0">
                <a:solidFill>
                  <a:srgbClr val="1A1A1A"/>
                </a:solidFill>
                <a:latin typeface="Poppins"/>
                <a:cs typeface="Poppins"/>
              </a:rPr>
              <a:t>Random Forest permutation importance</a:t>
            </a:r>
            <a:r>
              <a:rPr sz="1500" b="0" i="0">
                <a:solidFill>
                  <a:srgbClr val="1A1A1A"/>
                </a:solidFill>
                <a:latin typeface="Poppins"/>
                <a:cs typeface="Poppins"/>
              </a:rPr>
              <a:t> picks the most informative features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500" b="1" i="0">
                <a:solidFill>
                  <a:srgbClr val="1A1A1A"/>
                </a:solidFill>
                <a:latin typeface="Poppins"/>
                <a:cs typeface="Poppins"/>
              </a:rPr>
              <a:t>Depth hurts</a:t>
            </a:r>
            <a:r>
              <a:rPr sz="1500" b="0" i="0">
                <a:solidFill>
                  <a:srgbClr val="1A1A1A"/>
                </a:solidFill>
                <a:latin typeface="Poppins"/>
                <a:cs typeface="Poppins"/>
              </a:rPr>
              <a:t>: vanishing gradients stall the 50-layer net at initialization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94652B"/>
                </a:solidFill>
                <a:latin typeface="Poppins"/>
                <a:cs typeface="Poppins"/>
              </a:rPr>
              <a:t>•  </a:t>
            </a:r>
            <a:r>
              <a:rPr sz="1500" b="1" i="0">
                <a:solidFill>
                  <a:srgbClr val="1A1A1A"/>
                </a:solidFill>
                <a:latin typeface="Poppins"/>
                <a:cs typeface="Poppins"/>
              </a:rPr>
              <a:t>The “none” class works</a:t>
            </a:r>
            <a:r>
              <a:rPr sz="1500" b="0" i="0">
                <a:solidFill>
                  <a:srgbClr val="1A1A1A"/>
                </a:solidFill>
                <a:latin typeface="Poppins"/>
                <a:cs typeface="Poppins"/>
              </a:rPr>
              <a:t>: unknown passages never leak into a known author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35508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Poppins"/>
                <a:cs typeface="Poppin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